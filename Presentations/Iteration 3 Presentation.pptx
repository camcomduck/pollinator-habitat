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Mulish"/>
      <p:regular r:id="rId10"/>
      <p:bold r:id="rId11"/>
      <p:italic r:id="rId12"/>
      <p:boldItalic r:id="rId13"/>
    </p:embeddedFont>
    <p:embeddedFont>
      <p:font typeface="Antonio Light"/>
      <p:regular r:id="rId14"/>
      <p:bold r:id="rId15"/>
    </p:embeddedFont>
    <p:embeddedFont>
      <p:font typeface="Antonio"/>
      <p:regular r:id="rId16"/>
      <p:bold r:id="rId17"/>
    </p:embeddedFont>
    <p:embeddedFont>
      <p:font typeface="Mulish Medium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ulishMedium-italic.fntdata"/><Relationship Id="rId11" Type="http://schemas.openxmlformats.org/officeDocument/2006/relationships/font" Target="fonts/Mulish-bold.fntdata"/><Relationship Id="rId10" Type="http://schemas.openxmlformats.org/officeDocument/2006/relationships/font" Target="fonts/Mulish-regular.fntdata"/><Relationship Id="rId21" Type="http://schemas.openxmlformats.org/officeDocument/2006/relationships/font" Target="fonts/MulishMedium-boldItalic.fntdata"/><Relationship Id="rId13" Type="http://schemas.openxmlformats.org/officeDocument/2006/relationships/font" Target="fonts/Mulish-boldItalic.fntdata"/><Relationship Id="rId12" Type="http://schemas.openxmlformats.org/officeDocument/2006/relationships/font" Target="fonts/Mulish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ntonioLight-bold.fntdata"/><Relationship Id="rId14" Type="http://schemas.openxmlformats.org/officeDocument/2006/relationships/font" Target="fonts/AntonioLight-regular.fntdata"/><Relationship Id="rId17" Type="http://schemas.openxmlformats.org/officeDocument/2006/relationships/font" Target="fonts/Antonio-bold.fntdata"/><Relationship Id="rId16" Type="http://schemas.openxmlformats.org/officeDocument/2006/relationships/font" Target="fonts/Antoni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ulishMedium-bold.fntdata"/><Relationship Id="rId6" Type="http://schemas.openxmlformats.org/officeDocument/2006/relationships/slide" Target="slides/slide1.xml"/><Relationship Id="rId18" Type="http://schemas.openxmlformats.org/officeDocument/2006/relationships/font" Target="fonts/Mulish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8009402e7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8009402e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88009402e7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88009402e7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8009402e7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8009402e7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d921579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d921579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Antonio"/>
                <a:ea typeface="Antonio"/>
                <a:cs typeface="Antonio"/>
                <a:sym typeface="Antoni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DEAD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201450" y="1633234"/>
            <a:ext cx="8741100" cy="9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ulish Medium"/>
                <a:ea typeface="Mulish Medium"/>
                <a:cs typeface="Mulish Medium"/>
                <a:sym typeface="Mulish Medium"/>
              </a:rPr>
              <a:t>Simplify, digitize, and improve an existing educational activity about pollinators and their habitats, serving all age ranges and </a:t>
            </a:r>
            <a:r>
              <a:rPr lang="en" sz="2000">
                <a:latin typeface="Mulish Medium"/>
                <a:ea typeface="Mulish Medium"/>
                <a:cs typeface="Mulish Medium"/>
                <a:sym typeface="Mulish Medium"/>
              </a:rPr>
              <a:t>accessibility</a:t>
            </a:r>
            <a:r>
              <a:rPr lang="en" sz="2000">
                <a:latin typeface="Mulish Medium"/>
                <a:ea typeface="Mulish Medium"/>
                <a:cs typeface="Mulish Medium"/>
                <a:sym typeface="Mulish Medium"/>
              </a:rPr>
              <a:t> levels</a:t>
            </a:r>
            <a:endParaRPr sz="2000"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336238" y="1233433"/>
            <a:ext cx="8520600" cy="3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C5492A"/>
                </a:solidFill>
                <a:latin typeface="Antonio Light"/>
                <a:ea typeface="Antonio Light"/>
                <a:cs typeface="Antonio Light"/>
                <a:sym typeface="Antonio Light"/>
              </a:rPr>
              <a:t>BR1: External</a:t>
            </a:r>
            <a:endParaRPr sz="2000">
              <a:solidFill>
                <a:srgbClr val="C5492A"/>
              </a:solidFill>
              <a:latin typeface="Antonio Light"/>
              <a:ea typeface="Antonio Light"/>
              <a:cs typeface="Antonio Light"/>
              <a:sym typeface="Antonio Light"/>
            </a:endParaRPr>
          </a:p>
        </p:txBody>
      </p:sp>
      <p:sp>
        <p:nvSpPr>
          <p:cNvPr id="56" name="Google Shape;56;p13"/>
          <p:cNvSpPr txBox="1"/>
          <p:nvPr>
            <p:ph type="title"/>
          </p:nvPr>
        </p:nvSpPr>
        <p:spPr>
          <a:xfrm>
            <a:off x="323963" y="3421153"/>
            <a:ext cx="8520600" cy="84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ulish Medium"/>
                <a:ea typeface="Mulish Medium"/>
                <a:cs typeface="Mulish Medium"/>
                <a:sym typeface="Mulish Medium"/>
              </a:rPr>
              <a:t>Collect, aggregate, and provide access to data about activity use, to provide valuable insight about activity participant trends</a:t>
            </a:r>
            <a:endParaRPr sz="2000"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57" name="Google Shape;57;p13"/>
          <p:cNvSpPr txBox="1"/>
          <p:nvPr>
            <p:ph type="title"/>
          </p:nvPr>
        </p:nvSpPr>
        <p:spPr>
          <a:xfrm>
            <a:off x="348513" y="3049983"/>
            <a:ext cx="8520600" cy="29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C5492A"/>
                </a:solidFill>
                <a:latin typeface="Antonio Light"/>
                <a:ea typeface="Antonio Light"/>
                <a:cs typeface="Antonio Light"/>
                <a:sym typeface="Antonio Light"/>
              </a:rPr>
              <a:t>BR2: Internal</a:t>
            </a:r>
            <a:endParaRPr sz="2000">
              <a:solidFill>
                <a:srgbClr val="C5492A"/>
              </a:solidFill>
              <a:latin typeface="Antonio Light"/>
              <a:ea typeface="Antonio Light"/>
              <a:cs typeface="Antonio Light"/>
              <a:sym typeface="Antonio Light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2342100" y="119350"/>
            <a:ext cx="4459800" cy="531600"/>
          </a:xfrm>
          <a:prstGeom prst="roundRect">
            <a:avLst>
              <a:gd fmla="val 16667" name="adj"/>
            </a:avLst>
          </a:prstGeom>
          <a:solidFill>
            <a:srgbClr val="C2BAA2"/>
          </a:solidFill>
          <a:ln cap="flat" cmpd="sng" w="19050">
            <a:solidFill>
              <a:srgbClr val="4B4B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Antonio"/>
                <a:ea typeface="Antonio"/>
                <a:cs typeface="Antonio"/>
                <a:sym typeface="Antonio"/>
              </a:rPr>
              <a:t>Business Requirements</a:t>
            </a:r>
            <a:endParaRPr b="1" sz="2500">
              <a:latin typeface="Antonio"/>
              <a:ea typeface="Antonio"/>
              <a:cs typeface="Antonio"/>
              <a:sym typeface="Antoni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23963" y="755976"/>
            <a:ext cx="8520600" cy="3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C5492A"/>
                </a:solidFill>
                <a:latin typeface="Antonio Light"/>
                <a:ea typeface="Antonio Light"/>
                <a:cs typeface="Antonio Light"/>
                <a:sym typeface="Antonio Light"/>
              </a:rPr>
              <a:t>UC1: Playing the Game</a:t>
            </a:r>
            <a:endParaRPr sz="2000">
              <a:solidFill>
                <a:srgbClr val="C5492A"/>
              </a:solidFill>
              <a:latin typeface="Antonio Light"/>
              <a:ea typeface="Antonio Light"/>
              <a:cs typeface="Antonio Light"/>
              <a:sym typeface="Antonio Light"/>
            </a:endParaRPr>
          </a:p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1124368"/>
            <a:ext cx="8520600" cy="4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ulish"/>
                <a:ea typeface="Mulish"/>
                <a:cs typeface="Mulish"/>
                <a:sym typeface="Mulish"/>
              </a:rPr>
              <a:t>External users interact with the game through the web application</a:t>
            </a:r>
            <a:endParaRPr sz="1800"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2342100" y="119350"/>
            <a:ext cx="4459800" cy="531600"/>
          </a:xfrm>
          <a:prstGeom prst="roundRect">
            <a:avLst>
              <a:gd fmla="val 16667" name="adj"/>
            </a:avLst>
          </a:prstGeom>
          <a:solidFill>
            <a:srgbClr val="C2BAA2"/>
          </a:solidFill>
          <a:ln cap="flat" cmpd="sng" w="19050">
            <a:solidFill>
              <a:srgbClr val="4B4B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Antonio"/>
                <a:ea typeface="Antonio"/>
                <a:cs typeface="Antonio"/>
                <a:sym typeface="Antonio"/>
              </a:rPr>
              <a:t>Use Cases</a:t>
            </a:r>
            <a:endParaRPr b="1" sz="2500">
              <a:latin typeface="Antonio"/>
              <a:ea typeface="Antonio"/>
              <a:cs typeface="Antonio"/>
              <a:sym typeface="Antonio"/>
            </a:endParaRPr>
          </a:p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311688" y="1613191"/>
            <a:ext cx="8520600" cy="3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C5492A"/>
                </a:solidFill>
                <a:latin typeface="Antonio Light"/>
                <a:ea typeface="Antonio Light"/>
                <a:cs typeface="Antonio Light"/>
                <a:sym typeface="Antonio Light"/>
              </a:rPr>
              <a:t>UC2: Analyzing Statistics</a:t>
            </a:r>
            <a:endParaRPr sz="2000">
              <a:solidFill>
                <a:srgbClr val="C5492A"/>
              </a:solidFill>
              <a:latin typeface="Antonio Light"/>
              <a:ea typeface="Antonio Light"/>
              <a:cs typeface="Antonio Light"/>
              <a:sym typeface="Antonio Light"/>
            </a:endParaRPr>
          </a:p>
        </p:txBody>
      </p:sp>
      <p:sp>
        <p:nvSpPr>
          <p:cNvPr id="67" name="Google Shape;67;p14"/>
          <p:cNvSpPr txBox="1"/>
          <p:nvPr>
            <p:ph type="title"/>
          </p:nvPr>
        </p:nvSpPr>
        <p:spPr>
          <a:xfrm>
            <a:off x="299425" y="1959880"/>
            <a:ext cx="8520600" cy="4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ulish Medium"/>
                <a:ea typeface="Mulish Medium"/>
                <a:cs typeface="Mulish Medium"/>
                <a:sym typeface="Mulish Medium"/>
              </a:rPr>
              <a:t>Business analysts monitor system through the system-collected analytics</a:t>
            </a:r>
            <a:endParaRPr sz="1800"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68" name="Google Shape;68;p14"/>
          <p:cNvSpPr txBox="1"/>
          <p:nvPr>
            <p:ph type="title"/>
          </p:nvPr>
        </p:nvSpPr>
        <p:spPr>
          <a:xfrm>
            <a:off x="317825" y="2546365"/>
            <a:ext cx="8520600" cy="3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C5492A"/>
                </a:solidFill>
                <a:latin typeface="Antonio Light"/>
                <a:ea typeface="Antonio Light"/>
                <a:cs typeface="Antonio Light"/>
                <a:sym typeface="Antonio Light"/>
              </a:rPr>
              <a:t>UC3: Temporarily Enabling/Disabling Path Options</a:t>
            </a:r>
            <a:endParaRPr sz="2000">
              <a:solidFill>
                <a:srgbClr val="C5492A"/>
              </a:solidFill>
              <a:latin typeface="Antonio Light"/>
              <a:ea typeface="Antonio Light"/>
              <a:cs typeface="Antonio Light"/>
              <a:sym typeface="Antonio Light"/>
            </a:endParaRPr>
          </a:p>
        </p:txBody>
      </p:sp>
      <p:sp>
        <p:nvSpPr>
          <p:cNvPr id="69" name="Google Shape;69;p14"/>
          <p:cNvSpPr txBox="1"/>
          <p:nvPr>
            <p:ph type="title"/>
          </p:nvPr>
        </p:nvSpPr>
        <p:spPr>
          <a:xfrm>
            <a:off x="305563" y="2893054"/>
            <a:ext cx="8520600" cy="4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ulish Medium"/>
                <a:ea typeface="Mulish Medium"/>
                <a:cs typeface="Mulish Medium"/>
                <a:sym typeface="Mulish Medium"/>
              </a:rPr>
              <a:t>Activity leads dynamically control which game paths are available</a:t>
            </a:r>
            <a:endParaRPr sz="1800"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70" name="Google Shape;70;p14"/>
          <p:cNvSpPr txBox="1"/>
          <p:nvPr>
            <p:ph type="title"/>
          </p:nvPr>
        </p:nvSpPr>
        <p:spPr>
          <a:xfrm>
            <a:off x="394250" y="3439824"/>
            <a:ext cx="8520600" cy="3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C5492A"/>
                </a:solidFill>
                <a:latin typeface="Antonio Light"/>
                <a:ea typeface="Antonio Light"/>
                <a:cs typeface="Antonio Light"/>
                <a:sym typeface="Antonio Light"/>
              </a:rPr>
              <a:t>UC4: Permanent Removal/Addition/Editing of Paths</a:t>
            </a:r>
            <a:endParaRPr sz="2000">
              <a:solidFill>
                <a:srgbClr val="C5492A"/>
              </a:solidFill>
              <a:latin typeface="Antonio Light"/>
              <a:ea typeface="Antonio Light"/>
              <a:cs typeface="Antonio Light"/>
              <a:sym typeface="Antonio Light"/>
            </a:endParaRPr>
          </a:p>
        </p:txBody>
      </p:sp>
      <p:sp>
        <p:nvSpPr>
          <p:cNvPr id="71" name="Google Shape;71;p14"/>
          <p:cNvSpPr txBox="1"/>
          <p:nvPr>
            <p:ph type="title"/>
          </p:nvPr>
        </p:nvSpPr>
        <p:spPr>
          <a:xfrm>
            <a:off x="381988" y="3786513"/>
            <a:ext cx="8520600" cy="4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ulish Medium"/>
                <a:ea typeface="Mulish Medium"/>
                <a:cs typeface="Mulish Medium"/>
                <a:sym typeface="Mulish Medium"/>
              </a:rPr>
              <a:t>System Administrators make </a:t>
            </a:r>
            <a:r>
              <a:rPr lang="en" sz="1800">
                <a:latin typeface="Mulish Medium"/>
                <a:ea typeface="Mulish Medium"/>
                <a:cs typeface="Mulish Medium"/>
                <a:sym typeface="Mulish Medium"/>
              </a:rPr>
              <a:t>permanent</a:t>
            </a:r>
            <a:r>
              <a:rPr lang="en" sz="1800">
                <a:latin typeface="Mulish Medium"/>
                <a:ea typeface="Mulish Medium"/>
                <a:cs typeface="Mulish Medium"/>
                <a:sym typeface="Mulish Medium"/>
              </a:rPr>
              <a:t> changes to the game structure</a:t>
            </a:r>
            <a:endParaRPr sz="1800"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72" name="Google Shape;72;p14"/>
          <p:cNvSpPr txBox="1"/>
          <p:nvPr>
            <p:ph type="title"/>
          </p:nvPr>
        </p:nvSpPr>
        <p:spPr>
          <a:xfrm>
            <a:off x="330100" y="4344134"/>
            <a:ext cx="8520600" cy="3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C5492A"/>
                </a:solidFill>
                <a:latin typeface="Antonio Light"/>
                <a:ea typeface="Antonio Light"/>
                <a:cs typeface="Antonio Light"/>
                <a:sym typeface="Antonio Light"/>
              </a:rPr>
              <a:t>UC5: Adding, Removing, Viewing Permissions of All Internal Users</a:t>
            </a:r>
            <a:endParaRPr sz="2000">
              <a:solidFill>
                <a:srgbClr val="C5492A"/>
              </a:solidFill>
              <a:latin typeface="Antonio Light"/>
              <a:ea typeface="Antonio Light"/>
              <a:cs typeface="Antonio Light"/>
              <a:sym typeface="Antonio Light"/>
            </a:endParaRPr>
          </a:p>
        </p:txBody>
      </p:sp>
      <p:sp>
        <p:nvSpPr>
          <p:cNvPr id="73" name="Google Shape;73;p14"/>
          <p:cNvSpPr txBox="1"/>
          <p:nvPr>
            <p:ph type="title"/>
          </p:nvPr>
        </p:nvSpPr>
        <p:spPr>
          <a:xfrm>
            <a:off x="317838" y="4690823"/>
            <a:ext cx="8520600" cy="4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ulish Medium"/>
                <a:ea typeface="Mulish Medium"/>
                <a:cs typeface="Mulish Medium"/>
                <a:sym typeface="Mulish Medium"/>
              </a:rPr>
              <a:t>System Administrators control who has access to various system functions</a:t>
            </a:r>
            <a:endParaRPr sz="1800"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cxnSp>
        <p:nvCxnSpPr>
          <p:cNvPr id="74" name="Google Shape;74;p14"/>
          <p:cNvCxnSpPr/>
          <p:nvPr/>
        </p:nvCxnSpPr>
        <p:spPr>
          <a:xfrm>
            <a:off x="298750" y="1551766"/>
            <a:ext cx="8583300" cy="0"/>
          </a:xfrm>
          <a:prstGeom prst="straightConnector1">
            <a:avLst/>
          </a:prstGeom>
          <a:noFill/>
          <a:ln cap="flat" cmpd="sng" w="19050">
            <a:solidFill>
              <a:srgbClr val="2B2D35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75" name="Google Shape;75;p14"/>
          <p:cNvCxnSpPr/>
          <p:nvPr/>
        </p:nvCxnSpPr>
        <p:spPr>
          <a:xfrm>
            <a:off x="280350" y="2408967"/>
            <a:ext cx="8583300" cy="0"/>
          </a:xfrm>
          <a:prstGeom prst="straightConnector1">
            <a:avLst/>
          </a:prstGeom>
          <a:noFill/>
          <a:ln cap="flat" cmpd="sng" w="19050">
            <a:solidFill>
              <a:srgbClr val="2B2D35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76" name="Google Shape;76;p14"/>
          <p:cNvCxnSpPr/>
          <p:nvPr/>
        </p:nvCxnSpPr>
        <p:spPr>
          <a:xfrm>
            <a:off x="298750" y="3342142"/>
            <a:ext cx="8583300" cy="0"/>
          </a:xfrm>
          <a:prstGeom prst="straightConnector1">
            <a:avLst/>
          </a:prstGeom>
          <a:noFill/>
          <a:ln cap="flat" cmpd="sng" w="19050">
            <a:solidFill>
              <a:srgbClr val="2B2D35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77" name="Google Shape;77;p14"/>
          <p:cNvCxnSpPr/>
          <p:nvPr/>
        </p:nvCxnSpPr>
        <p:spPr>
          <a:xfrm>
            <a:off x="280350" y="4279017"/>
            <a:ext cx="8583300" cy="0"/>
          </a:xfrm>
          <a:prstGeom prst="straightConnector1">
            <a:avLst/>
          </a:prstGeom>
          <a:noFill/>
          <a:ln cap="flat" cmpd="sng" w="19050">
            <a:solidFill>
              <a:srgbClr val="2B2D35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305575" y="1124375"/>
            <a:ext cx="8520600" cy="401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Mulish"/>
              <a:buChar char="●"/>
            </a:pPr>
            <a:r>
              <a:rPr lang="en" sz="2200">
                <a:latin typeface="Mulish"/>
                <a:ea typeface="Mulish"/>
                <a:cs typeface="Mulish"/>
                <a:sym typeface="Mulish"/>
              </a:rPr>
              <a:t>Backend protection (JWT)</a:t>
            </a:r>
            <a:endParaRPr sz="2200">
              <a:latin typeface="Mulish"/>
              <a:ea typeface="Mulish"/>
              <a:cs typeface="Mulish"/>
              <a:sym typeface="Mulish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Mulish"/>
              <a:buChar char="●"/>
            </a:pPr>
            <a:r>
              <a:rPr lang="en" sz="2200">
                <a:latin typeface="Mulish"/>
                <a:ea typeface="Mulish"/>
                <a:cs typeface="Mulish"/>
                <a:sym typeface="Mulish"/>
              </a:rPr>
              <a:t>Pollinator Collection Page</a:t>
            </a:r>
            <a:endParaRPr sz="2200">
              <a:latin typeface="Mulish"/>
              <a:ea typeface="Mulish"/>
              <a:cs typeface="Mulish"/>
              <a:sym typeface="Mulish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Mulish"/>
              <a:buChar char="●"/>
            </a:pPr>
            <a:r>
              <a:rPr lang="en" sz="2200">
                <a:latin typeface="Mulish"/>
                <a:ea typeface="Mulish"/>
                <a:cs typeface="Mulish"/>
                <a:sym typeface="Mulish"/>
              </a:rPr>
              <a:t>Session ID page</a:t>
            </a:r>
            <a:endParaRPr sz="2200">
              <a:latin typeface="Mulish"/>
              <a:ea typeface="Mulish"/>
              <a:cs typeface="Mulish"/>
              <a:sym typeface="Mulish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Mulish"/>
              <a:buChar char="●"/>
            </a:pPr>
            <a:r>
              <a:rPr lang="en" sz="2200">
                <a:latin typeface="Mulish"/>
                <a:ea typeface="Mulish"/>
                <a:cs typeface="Mulish"/>
                <a:sym typeface="Mulish"/>
              </a:rPr>
              <a:t>Improved UI during gameplay in route</a:t>
            </a:r>
            <a:endParaRPr sz="2200">
              <a:latin typeface="Mulish"/>
              <a:ea typeface="Mulish"/>
              <a:cs typeface="Mulish"/>
              <a:sym typeface="Mulish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Mulish"/>
              <a:buChar char="●"/>
            </a:pPr>
            <a:r>
              <a:rPr lang="en" sz="2200">
                <a:latin typeface="Mulish"/>
                <a:ea typeface="Mulish"/>
                <a:cs typeface="Mulish"/>
                <a:sym typeface="Mulish"/>
              </a:rPr>
              <a:t>Database framework</a:t>
            </a:r>
            <a:endParaRPr sz="2200"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2342100" y="119350"/>
            <a:ext cx="4459800" cy="531600"/>
          </a:xfrm>
          <a:prstGeom prst="roundRect">
            <a:avLst>
              <a:gd fmla="val 16667" name="adj"/>
            </a:avLst>
          </a:prstGeom>
          <a:solidFill>
            <a:srgbClr val="C2BAA2"/>
          </a:solidFill>
          <a:ln cap="flat" cmpd="sng" w="19050">
            <a:solidFill>
              <a:srgbClr val="4B4B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Antonio"/>
                <a:ea typeface="Antonio"/>
                <a:cs typeface="Antonio"/>
                <a:sym typeface="Antonio"/>
              </a:rPr>
              <a:t>Completed in Iteration 3</a:t>
            </a:r>
            <a:endParaRPr b="1" sz="2500">
              <a:latin typeface="Antonio"/>
              <a:ea typeface="Antonio"/>
              <a:cs typeface="Antonio"/>
              <a:sym typeface="Antoni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/>
          <p:nvPr/>
        </p:nvSpPr>
        <p:spPr>
          <a:xfrm>
            <a:off x="2342100" y="119350"/>
            <a:ext cx="4459800" cy="531600"/>
          </a:xfrm>
          <a:prstGeom prst="roundRect">
            <a:avLst>
              <a:gd fmla="val 16667" name="adj"/>
            </a:avLst>
          </a:prstGeom>
          <a:solidFill>
            <a:srgbClr val="C2BAA2"/>
          </a:solidFill>
          <a:ln cap="flat" cmpd="sng" w="19050">
            <a:solidFill>
              <a:srgbClr val="4B4B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Antonio"/>
                <a:ea typeface="Antonio"/>
                <a:cs typeface="Antonio"/>
                <a:sym typeface="Antonio"/>
              </a:rPr>
              <a:t>Planned for Iteration 4</a:t>
            </a:r>
            <a:endParaRPr b="1" sz="2500">
              <a:latin typeface="Antonio"/>
              <a:ea typeface="Antonio"/>
              <a:cs typeface="Antonio"/>
              <a:sym typeface="Antonio"/>
            </a:endParaRPr>
          </a:p>
        </p:txBody>
      </p:sp>
      <p:sp>
        <p:nvSpPr>
          <p:cNvPr id="89" name="Google Shape;89;p16"/>
          <p:cNvSpPr txBox="1"/>
          <p:nvPr>
            <p:ph type="title"/>
          </p:nvPr>
        </p:nvSpPr>
        <p:spPr>
          <a:xfrm>
            <a:off x="213750" y="906600"/>
            <a:ext cx="8716500" cy="423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ulish"/>
              <a:buChar char="●"/>
            </a:pPr>
            <a:r>
              <a:rPr lang="en" sz="2200">
                <a:latin typeface="Mulish"/>
                <a:ea typeface="Mulish"/>
                <a:cs typeface="Mulish"/>
                <a:sym typeface="Mulish"/>
              </a:rPr>
              <a:t>Stat tracking and display for staff members</a:t>
            </a:r>
            <a:endParaRPr sz="2200">
              <a:latin typeface="Mulish"/>
              <a:ea typeface="Mulish"/>
              <a:cs typeface="Mulish"/>
              <a:sym typeface="Mulish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ulish"/>
              <a:buChar char="●"/>
            </a:pPr>
            <a:r>
              <a:rPr lang="en" sz="2200">
                <a:latin typeface="Mulish"/>
                <a:ea typeface="Mulish"/>
                <a:cs typeface="Mulish"/>
                <a:sym typeface="Mulish"/>
              </a:rPr>
              <a:t>Deployment on Conner Prairie internet</a:t>
            </a:r>
            <a:endParaRPr sz="2200">
              <a:latin typeface="Mulish"/>
              <a:ea typeface="Mulish"/>
              <a:cs typeface="Mulish"/>
              <a:sym typeface="Mulish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ulish"/>
              <a:buChar char="●"/>
            </a:pPr>
            <a:r>
              <a:rPr lang="en" sz="2200">
                <a:latin typeface="Mulish"/>
                <a:ea typeface="Mulish"/>
                <a:cs typeface="Mulish"/>
                <a:sym typeface="Mulish"/>
              </a:rPr>
              <a:t>More UI improvements to route page</a:t>
            </a:r>
            <a:endParaRPr sz="2200">
              <a:latin typeface="Mulish"/>
              <a:ea typeface="Mulish"/>
              <a:cs typeface="Mulish"/>
              <a:sym typeface="Mulish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ulish"/>
              <a:buChar char="○"/>
            </a:pPr>
            <a:r>
              <a:rPr lang="en" sz="2200">
                <a:latin typeface="Mulish"/>
                <a:ea typeface="Mulish"/>
                <a:cs typeface="Mulish"/>
                <a:sym typeface="Mulish"/>
              </a:rPr>
              <a:t>Showing previous stations visited</a:t>
            </a:r>
            <a:endParaRPr sz="2200">
              <a:latin typeface="Mulish"/>
              <a:ea typeface="Mulish"/>
              <a:cs typeface="Mulish"/>
              <a:sym typeface="Mulish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ulish"/>
              <a:buChar char="○"/>
            </a:pPr>
            <a:r>
              <a:rPr lang="en" sz="2200">
                <a:latin typeface="Mulish"/>
                <a:ea typeface="Mulish"/>
                <a:cs typeface="Mulish"/>
                <a:sym typeface="Mulish"/>
              </a:rPr>
              <a:t>More exciting popup when pollinator is discovered</a:t>
            </a:r>
            <a:endParaRPr sz="2200">
              <a:latin typeface="Mulish"/>
              <a:ea typeface="Mulish"/>
              <a:cs typeface="Mulish"/>
              <a:sym typeface="Mulish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ulish"/>
              <a:buChar char="○"/>
            </a:pPr>
            <a:r>
              <a:rPr lang="en" sz="2200">
                <a:latin typeface="Mulish"/>
                <a:ea typeface="Mulish"/>
                <a:cs typeface="Mulish"/>
                <a:sym typeface="Mulish"/>
              </a:rPr>
              <a:t>Differentiated formatting for gameplay vs facts</a:t>
            </a:r>
            <a:endParaRPr sz="2200">
              <a:latin typeface="Mulish"/>
              <a:ea typeface="Mulish"/>
              <a:cs typeface="Mulish"/>
              <a:sym typeface="Mulish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ulish"/>
              <a:buChar char="○"/>
            </a:pPr>
            <a:r>
              <a:rPr lang="en" sz="2200">
                <a:latin typeface="Mulish"/>
                <a:ea typeface="Mulish"/>
                <a:cs typeface="Mulish"/>
                <a:sym typeface="Mulish"/>
              </a:rPr>
              <a:t>Settings button</a:t>
            </a:r>
            <a:endParaRPr sz="2200">
              <a:latin typeface="Mulish"/>
              <a:ea typeface="Mulish"/>
              <a:cs typeface="Mulish"/>
              <a:sym typeface="Mulish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ulish"/>
              <a:buChar char="●"/>
            </a:pPr>
            <a:r>
              <a:rPr lang="en" sz="2200">
                <a:latin typeface="Mulish"/>
                <a:ea typeface="Mulish"/>
                <a:cs typeface="Mulish"/>
                <a:sym typeface="Mulish"/>
              </a:rPr>
              <a:t>Finalize remaining accessibility settings</a:t>
            </a:r>
            <a:endParaRPr sz="2200">
              <a:latin typeface="Mulish"/>
              <a:ea typeface="Mulish"/>
              <a:cs typeface="Mulish"/>
              <a:sym typeface="Mulish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ulish"/>
              <a:buChar char="●"/>
            </a:pPr>
            <a:r>
              <a:rPr lang="en" sz="2200">
                <a:latin typeface="Mulish"/>
                <a:ea typeface="Mulish"/>
                <a:cs typeface="Mulish"/>
                <a:sym typeface="Mulish"/>
              </a:rPr>
              <a:t>Improve UI and functionality on pollinator collection page</a:t>
            </a:r>
            <a:endParaRPr sz="2200">
              <a:latin typeface="Mulish"/>
              <a:ea typeface="Mulish"/>
              <a:cs typeface="Mulish"/>
              <a:sym typeface="Mulish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ulish"/>
              <a:buChar char="○"/>
            </a:pPr>
            <a:r>
              <a:rPr lang="en" sz="2200">
                <a:latin typeface="Mulish"/>
                <a:ea typeface="Mulish"/>
                <a:cs typeface="Mulish"/>
                <a:sym typeface="Mulish"/>
              </a:rPr>
              <a:t>Button on discovered pollinators to replay that pollinator</a:t>
            </a:r>
            <a:endParaRPr sz="2200">
              <a:latin typeface="Mulish"/>
              <a:ea typeface="Mulish"/>
              <a:cs typeface="Mulish"/>
              <a:sym typeface="Mulish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ulish"/>
              <a:buChar char="○"/>
            </a:pPr>
            <a:r>
              <a:rPr lang="en" sz="2200">
                <a:latin typeface="Mulish"/>
                <a:ea typeface="Mulish"/>
                <a:cs typeface="Mulish"/>
                <a:sym typeface="Mulish"/>
              </a:rPr>
              <a:t>Fix mobile page formatting</a:t>
            </a:r>
            <a:endParaRPr sz="2200">
              <a:latin typeface="Mulish"/>
              <a:ea typeface="Mulish"/>
              <a:cs typeface="Mulish"/>
              <a:sym typeface="Mulish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ulish"/>
              <a:buChar char="●"/>
            </a:pPr>
            <a:r>
              <a:rPr lang="en" sz="2200">
                <a:latin typeface="Mulish"/>
                <a:ea typeface="Mulish"/>
                <a:cs typeface="Mulish"/>
                <a:sym typeface="Mulish"/>
              </a:rPr>
              <a:t>Full database integration</a:t>
            </a:r>
            <a:endParaRPr sz="2200">
              <a:latin typeface="Mulish"/>
              <a:ea typeface="Mulish"/>
              <a:cs typeface="Mulish"/>
              <a:sym typeface="Mulish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ulish"/>
              <a:buChar char="●"/>
            </a:pPr>
            <a:r>
              <a:rPr lang="en" sz="2200">
                <a:latin typeface="Mulish"/>
                <a:ea typeface="Mulish"/>
                <a:cs typeface="Mulish"/>
                <a:sym typeface="Mulish"/>
              </a:rPr>
              <a:t>Session ID random generation</a:t>
            </a:r>
            <a:endParaRPr sz="2200"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